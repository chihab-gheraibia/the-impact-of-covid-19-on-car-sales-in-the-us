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4A261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100584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the US Car Market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2402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the Pandemic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2880360"/>
            <a:ext cx="41148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310896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320040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Gheraibia Chihab Eddine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/ Computer Science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Streamlit · Plotly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6640" y="43891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4A261"/>
          </a:solidFill>
          <a:ln/>
        </p:spPr>
      </p:sp>
      <p:sp>
        <p:nvSpPr>
          <p:cNvPr id="11" name="Text 8"/>
          <p:cNvSpPr/>
          <p:nvPr/>
        </p:nvSpPr>
        <p:spPr>
          <a:xfrm>
            <a:off x="7406640" y="4389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11430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</a:t>
            </a:r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US car sales data using Python &amp; Pandas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65760" y="224028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22402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</a:t>
            </a:r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sales trends and seasonal patterns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33375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" y="33375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  </a:t>
            </a:r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COVID-19 impact on car market revenue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54880" y="114300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92040" y="11430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</a:t>
            </a:r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using RFM analysis (Recency, Frequency, Monetary)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54880" y="224028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92040" y="22402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</a:t>
            </a:r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regional stability and top seller performance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754880" y="333756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92040" y="33375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</a:t>
            </a:r>
            <a:pPr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Streamlit dashboard for decision-makers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9728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0292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Sale Date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timestamp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91840" y="109728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42900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Quantity Sold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per order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09728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11887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 Sale Price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vehicle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28600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23774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× Quantity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91840" y="228600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29000" y="23774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Car Make / Brand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name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228600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23774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Customer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age, profile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347472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02920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Sales Region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geographical zone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91840" y="347472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429000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🧑‍💼  Salesperson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identifier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17920" y="347472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55080" y="35661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Discount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discount 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59436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KPI Analysis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51560"/>
            <a:ext cx="1508760" cy="3291840"/>
          </a:xfrm>
          <a:prstGeom prst="roundRect">
            <a:avLst>
              <a:gd name="adj" fmla="val 848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1887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2148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$192.74B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576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34015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trend observed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057400" y="1051560"/>
            <a:ext cx="1508760" cy="3291840"/>
          </a:xfrm>
          <a:prstGeom prst="roundRect">
            <a:avLst>
              <a:gd name="adj" fmla="val 848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23160" y="11887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42316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057400" y="2148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2.12M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05740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Sold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057400" y="34015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across all regions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49040" y="1051560"/>
            <a:ext cx="1508760" cy="3291840"/>
          </a:xfrm>
          <a:prstGeom prst="roundRect">
            <a:avLst>
              <a:gd name="adj" fmla="val 848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114800" y="11887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11480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749040" y="2148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329,958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374904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749040" y="34015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buyers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440680" y="1051560"/>
            <a:ext cx="1508760" cy="3291840"/>
          </a:xfrm>
          <a:prstGeom prst="roundRect">
            <a:avLst>
              <a:gd name="adj" fmla="val 848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806440" y="11887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80644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440680" y="2148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1,000,668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4068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40680" y="34015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132320" y="1051560"/>
            <a:ext cx="1508760" cy="3291840"/>
          </a:xfrm>
          <a:prstGeom prst="roundRect">
            <a:avLst>
              <a:gd name="adj" fmla="val 848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498080" y="118872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49808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132320" y="2148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$198,584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7132320" y="29260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Basket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132320" y="34015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KPIs provide a high-level view of the car market's business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 &amp; Seasonality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069080" cy="3886200"/>
          </a:xfrm>
          <a:prstGeom prst="roundRect">
            <a:avLst>
              <a:gd name="adj" fmla="val 3294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Vehicle Price Distribution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256032" cy="41148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446020"/>
            <a:ext cx="256032" cy="75438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43584" y="2034540"/>
            <a:ext cx="256032" cy="116586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91056" y="1828800"/>
            <a:ext cx="256032" cy="13716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Shape 7"/>
          <p:cNvSpPr/>
          <p:nvPr/>
        </p:nvSpPr>
        <p:spPr>
          <a:xfrm>
            <a:off x="1938528" y="2171700"/>
            <a:ext cx="256032" cy="102870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286000" y="2514600"/>
            <a:ext cx="256032" cy="68580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633472" y="2788920"/>
            <a:ext cx="256032" cy="41148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980944" y="2953512"/>
            <a:ext cx="256032" cy="246888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28416" y="3063240"/>
            <a:ext cx="256032" cy="13716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75888" y="3104388"/>
            <a:ext cx="256032" cy="96012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200400"/>
            <a:ext cx="3657600" cy="0"/>
          </a:xfrm>
          <a:prstGeom prst="line">
            <a:avLst/>
          </a:prstGeom>
          <a:noFill/>
          <a:ln w="12700">
            <a:solidFill>
              <a:srgbClr val="8EA8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→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Right-skewed distribution — most vehicles sold at moderate prices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0299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Small number of high-end cars create a long right tail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41401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Mean price &gt; Median due to luxury segment outliers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069080" cy="3886200"/>
          </a:xfrm>
          <a:prstGeom prst="roundRect">
            <a:avLst>
              <a:gd name="adj" fmla="val 3294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1051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Seasonality Insights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16002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92040" y="2057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$46.2B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12280" y="16002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1228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12280" y="2057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$49.2B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28346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89204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$47.1B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12280" y="283464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1228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1228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$50.3B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3840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February consistently shows the lowest sales across all years — structural seasonal dip.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Impact on Car Sales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417320" y="2194560"/>
            <a:ext cx="914400" cy="0"/>
          </a:xfrm>
          <a:prstGeom prst="line">
            <a:avLst/>
          </a:prstGeom>
          <a:noFill/>
          <a:ln w="25400">
            <a:solidFill>
              <a:srgbClr val="8EA8C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60520" y="2194560"/>
            <a:ext cx="914400" cy="0"/>
          </a:xfrm>
          <a:prstGeom prst="line">
            <a:avLst/>
          </a:prstGeom>
          <a:noFill/>
          <a:ln w="25400">
            <a:solidFill>
              <a:srgbClr val="8EA8C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1005840"/>
            <a:ext cx="2377440" cy="3566160"/>
          </a:xfrm>
          <a:prstGeom prst="roundRect">
            <a:avLst>
              <a:gd name="adj" fmla="val 538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005840"/>
            <a:ext cx="2377440" cy="502920"/>
          </a:xfrm>
          <a:prstGeom prst="roundRect">
            <a:avLst>
              <a:gd name="adj" fmla="val 25455"/>
            </a:avLst>
          </a:prstGeom>
          <a:solidFill>
            <a:srgbClr val="2ECC71">
              <a:alpha val="8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2004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Pre-COVID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3774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growth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expansion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63240" y="1005840"/>
            <a:ext cx="2377440" cy="3566160"/>
          </a:xfrm>
          <a:prstGeom prst="roundRect">
            <a:avLst>
              <a:gd name="adj" fmla="val 538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63240" y="1005840"/>
            <a:ext cx="2377440" cy="502920"/>
          </a:xfrm>
          <a:prstGeom prst="roundRect">
            <a:avLst>
              <a:gd name="adj" fmla="val 25455"/>
            </a:avLst>
          </a:prstGeom>
          <a:solidFill>
            <a:srgbClr val="E74C3C">
              <a:alpha val="8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06324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06324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Peak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00400" y="23774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Lockdowns hit sales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06440" y="1005840"/>
            <a:ext cx="2377440" cy="3566160"/>
          </a:xfrm>
          <a:prstGeom prst="roundRect">
            <a:avLst>
              <a:gd name="adj" fmla="val 538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06440" y="1005840"/>
            <a:ext cx="2377440" cy="502920"/>
          </a:xfrm>
          <a:prstGeom prst="roundRect">
            <a:avLst>
              <a:gd name="adj" fmla="val 25455"/>
            </a:avLst>
          </a:prstGeom>
          <a:solidFill>
            <a:srgbClr val="F4A261">
              <a:alpha val="8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80644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806440" y="1600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43600" y="23774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Rebound begins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Pent-up demand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0040" y="4617720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Post-COVID rebound (late 2021) confirms pent-up demand — lockdowns delayed, not cancelled, purchase intent.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20040" y="1005840"/>
            <a:ext cx="4114800" cy="3840480"/>
          </a:xfrm>
          <a:prstGeom prst="roundRect">
            <a:avLst>
              <a:gd name="adj" fmla="val 3333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0292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Pareto 80/20 Rule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474720"/>
            <a:ext cx="274320" cy="-64008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834640"/>
            <a:ext cx="365760" cy="-45720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80160" y="2377440"/>
            <a:ext cx="457200" cy="-18288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37360" y="2194560"/>
            <a:ext cx="548640" cy="-9144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0" y="2103120"/>
            <a:ext cx="914400" cy="-9144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2011680"/>
            <a:ext cx="1005840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1600200"/>
            <a:ext cx="0" cy="1965960"/>
          </a:xfrm>
          <a:prstGeom prst="line">
            <a:avLst/>
          </a:prstGeom>
          <a:noFill/>
          <a:ln w="12700">
            <a:solidFill>
              <a:srgbClr val="8EA8C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3566160"/>
            <a:ext cx="3749040" cy="0"/>
          </a:xfrm>
          <a:prstGeom prst="line">
            <a:avLst/>
          </a:prstGeom>
          <a:noFill/>
          <a:ln w="12700">
            <a:solidFill>
              <a:srgbClr val="8EA8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7490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customers generate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pPr indent="0" marL="0">
              <a:buNone/>
            </a:pPr>
            <a:r>
              <a:rPr lang="en-US" sz="11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total revenue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3333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9204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Customer Loyalty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846320" y="16916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92040" y="16916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9496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Smith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94960" y="2039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purchases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251460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92040" y="25146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9496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Johnson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94960" y="2862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purchases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46320" y="333756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892040" y="333756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9496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Smith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394960" y="36850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purchases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4160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Retention strategies outperform acquisition in long-term ROI.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Age Segmentation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20040" y="1005840"/>
            <a:ext cx="4114800" cy="3840480"/>
          </a:xfrm>
          <a:prstGeom prst="roundRect">
            <a:avLst>
              <a:gd name="adj" fmla="val 3333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0292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Regional Stability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3749040" cy="612648"/>
          </a:xfrm>
          <a:prstGeom prst="roundRect">
            <a:avLst>
              <a:gd name="adj" fmla="val 11940"/>
            </a:avLst>
          </a:prstGeom>
          <a:solidFill>
            <a:srgbClr val="0D1B2A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Ohio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154680" y="1828800"/>
            <a:ext cx="914400" cy="338328"/>
          </a:xfrm>
          <a:prstGeom prst="roundRect">
            <a:avLst>
              <a:gd name="adj" fmla="val 18919"/>
            </a:avLst>
          </a:prstGeom>
          <a:solidFill>
            <a:srgbClr val="2ECC71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154680" y="182880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3749040" cy="612648"/>
          </a:xfrm>
          <a:prstGeom prst="roundRect">
            <a:avLst>
              <a:gd name="adj" fmla="val 11940"/>
            </a:avLst>
          </a:prstGeom>
          <a:solidFill>
            <a:srgbClr val="0D1B2A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468880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Tennessee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54680" y="2606040"/>
            <a:ext cx="914400" cy="338328"/>
          </a:xfrm>
          <a:prstGeom prst="roundRect">
            <a:avLst>
              <a:gd name="adj" fmla="val 18919"/>
            </a:avLst>
          </a:prstGeom>
          <a:solidFill>
            <a:srgbClr val="2ECC71">
              <a:alpha val="8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154680" y="260604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246120"/>
            <a:ext cx="3749040" cy="612648"/>
          </a:xfrm>
          <a:prstGeom prst="roundRect">
            <a:avLst>
              <a:gd name="adj" fmla="val 11940"/>
            </a:avLst>
          </a:prstGeom>
          <a:solidFill>
            <a:srgbClr val="0D1B2A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246120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Alabama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154680" y="3383280"/>
            <a:ext cx="914400" cy="338328"/>
          </a:xfrm>
          <a:prstGeom prst="roundRect">
            <a:avLst>
              <a:gd name="adj" fmla="val 18919"/>
            </a:avLst>
          </a:prstGeom>
          <a:solidFill>
            <a:srgbClr val="E74C3C">
              <a:alpha val="8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154680" y="3383280"/>
            <a:ext cx="914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1148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regions provide predictable revenue streams for forecasting.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3333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9204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 Car Preference by Age Group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46320" y="1645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760720" y="1828800"/>
            <a:ext cx="256032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Shape 20"/>
          <p:cNvSpPr/>
          <p:nvPr/>
        </p:nvSpPr>
        <p:spPr>
          <a:xfrm>
            <a:off x="5760720" y="1828800"/>
            <a:ext cx="1536192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1"/>
          <p:cNvSpPr/>
          <p:nvPr/>
        </p:nvSpPr>
        <p:spPr>
          <a:xfrm>
            <a:off x="576072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&amp; Modern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46320" y="22677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760720" y="2450592"/>
            <a:ext cx="256032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Shape 24"/>
          <p:cNvSpPr/>
          <p:nvPr/>
        </p:nvSpPr>
        <p:spPr>
          <a:xfrm>
            <a:off x="5760720" y="2450592"/>
            <a:ext cx="1331366" cy="7315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28" name="Text 25"/>
          <p:cNvSpPr/>
          <p:nvPr/>
        </p:nvSpPr>
        <p:spPr>
          <a:xfrm>
            <a:off x="5760720" y="22677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Sporty &amp; Performance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2889504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36–45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760720" y="3072384"/>
            <a:ext cx="256032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Shape 28"/>
          <p:cNvSpPr/>
          <p:nvPr/>
        </p:nvSpPr>
        <p:spPr>
          <a:xfrm>
            <a:off x="5760720" y="3072384"/>
            <a:ext cx="1126541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2" name="Text 29"/>
          <p:cNvSpPr/>
          <p:nvPr/>
        </p:nvSpPr>
        <p:spPr>
          <a:xfrm>
            <a:off x="5760720" y="28895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SUVs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846320" y="351129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46–55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760720" y="3694176"/>
            <a:ext cx="256032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Shape 32"/>
          <p:cNvSpPr/>
          <p:nvPr/>
        </p:nvSpPr>
        <p:spPr>
          <a:xfrm>
            <a:off x="5760720" y="3694176"/>
            <a:ext cx="921715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6" name="Text 33"/>
          <p:cNvSpPr/>
          <p:nvPr/>
        </p:nvSpPr>
        <p:spPr>
          <a:xfrm>
            <a:off x="5760720" y="35112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&amp; Luxury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846320" y="413308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56+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760720" y="4315968"/>
            <a:ext cx="2560320" cy="731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9" name="Shape 36"/>
          <p:cNvSpPr/>
          <p:nvPr/>
        </p:nvSpPr>
        <p:spPr>
          <a:xfrm>
            <a:off x="5760720" y="4315968"/>
            <a:ext cx="716890" cy="73152"/>
          </a:xfrm>
          <a:prstGeom prst="rect">
            <a:avLst/>
          </a:prstGeom>
          <a:solidFill>
            <a:srgbClr val="8EA8C3"/>
          </a:solidFill>
          <a:ln/>
        </p:spPr>
      </p:sp>
      <p:sp>
        <p:nvSpPr>
          <p:cNvPr id="40" name="Text 37"/>
          <p:cNvSpPr/>
          <p:nvPr/>
        </p:nvSpPr>
        <p:spPr>
          <a:xfrm>
            <a:off x="5760720" y="41330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Sedans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4846320" y="4160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Marketing strategies should be age-specific for maximum ROI.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Customer Segmentation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280160" cy="128016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365760" y="1005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7432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recently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purchased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20240" y="1005840"/>
            <a:ext cx="1280160" cy="1280160"/>
          </a:xfrm>
          <a:prstGeom prst="ellipse">
            <a:avLst/>
          </a:prstGeom>
          <a:solidFill>
            <a:srgbClr val="F4A261">
              <a:alpha val="80000"/>
            </a:srgbClr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920240" y="1005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82880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28800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purchase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0" y="1005840"/>
            <a:ext cx="1280160" cy="1280160"/>
          </a:xfrm>
          <a:prstGeom prst="ellipse">
            <a:avLst/>
          </a:prstGeom>
          <a:solidFill>
            <a:srgbClr val="2ECC71">
              <a:alpha val="80000"/>
            </a:srgbClr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74720" y="10058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338328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spend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9160" y="100584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00600" y="1170432"/>
            <a:ext cx="420624" cy="420624"/>
          </a:xfrm>
          <a:prstGeom prst="ellipse">
            <a:avLst/>
          </a:prstGeom>
          <a:solidFill>
            <a:srgbClr val="2ECC71">
              <a:alpha val="7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800600" y="1170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303520" y="1051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03520" y="1389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Recent, frequent, high spend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09160" y="192024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00600" y="2084832"/>
            <a:ext cx="420624" cy="420624"/>
          </a:xfrm>
          <a:prstGeom prst="ellipse">
            <a:avLst/>
          </a:prstGeom>
          <a:solidFill>
            <a:srgbClr val="00B4D8">
              <a:alpha val="7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80060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303520" y="1965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303520" y="2304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buyers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709160" y="283464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00600" y="2999232"/>
            <a:ext cx="420624" cy="420624"/>
          </a:xfrm>
          <a:prstGeom prst="ellipse">
            <a:avLst/>
          </a:prstGeom>
          <a:solidFill>
            <a:srgbClr val="F4A261">
              <a:alpha val="75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800600" y="2999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03520" y="28803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303520" y="3218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activity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949440" y="100584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040880" y="1170432"/>
            <a:ext cx="420624" cy="420624"/>
          </a:xfrm>
          <a:prstGeom prst="ellipse">
            <a:avLst/>
          </a:prstGeom>
          <a:solidFill>
            <a:srgbClr val="E67E22">
              <a:alpha val="75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7040880" y="1170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543800" y="1051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543800" y="1389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engagement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949440" y="1920240"/>
            <a:ext cx="2103120" cy="749808"/>
          </a:xfrm>
          <a:prstGeom prst="roundRect">
            <a:avLst>
              <a:gd name="adj" fmla="val 12195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040880" y="2084832"/>
            <a:ext cx="420624" cy="420624"/>
          </a:xfrm>
          <a:prstGeom prst="ellipse">
            <a:avLst/>
          </a:prstGeom>
          <a:solidFill>
            <a:srgbClr val="E74C3C">
              <a:alpha val="75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704088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543800" y="19659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Customers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543800" y="23042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recent activity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RFM helps identify Champions to reward and Lost Customers to re-engage.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743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20040" y="960120"/>
            <a:ext cx="8503920" cy="3840480"/>
          </a:xfrm>
          <a:prstGeom prst="roundRect">
            <a:avLst>
              <a:gd name="adj" fmla="val 3810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20040" y="960120"/>
            <a:ext cx="8503920" cy="502920"/>
          </a:xfrm>
          <a:prstGeom prst="roundRect">
            <a:avLst>
              <a:gd name="adj" fmla="val 29091"/>
            </a:avLst>
          </a:prstGeom>
          <a:solidFill>
            <a:srgbClr val="0077A8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9875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Car Sales Intelligence Dashboard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463040"/>
            <a:ext cx="1645920" cy="3337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" y="160020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1B2A3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Year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228600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1B2A3E"/>
          </a:solidFill>
          <a:ln/>
        </p:spPr>
      </p:sp>
      <p:sp>
        <p:nvSpPr>
          <p:cNvPr id="11" name="Text 8"/>
          <p:cNvSpPr/>
          <p:nvPr/>
        </p:nvSpPr>
        <p:spPr>
          <a:xfrm>
            <a:off x="41148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Region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297180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1B2A3E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29718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Top 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480" y="365760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1B2A3E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🚘 Car Make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103120" y="155448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0D1B2A"/>
          </a:solidFill>
          <a:ln/>
        </p:spPr>
      </p:sp>
      <p:sp>
        <p:nvSpPr>
          <p:cNvPr id="17" name="Text 14"/>
          <p:cNvSpPr/>
          <p:nvPr/>
        </p:nvSpPr>
        <p:spPr>
          <a:xfrm>
            <a:off x="2103120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$192B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794760" y="155448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0D1B2A"/>
          </a:solidFill>
          <a:ln/>
        </p:spPr>
      </p:sp>
      <p:sp>
        <p:nvSpPr>
          <p:cNvPr id="19" name="Text 16"/>
          <p:cNvSpPr/>
          <p:nvPr/>
        </p:nvSpPr>
        <p:spPr>
          <a:xfrm>
            <a:off x="3794760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2.1M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0" y="155448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0D1B2A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0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330K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78040" y="1554480"/>
            <a:ext cx="1463040" cy="502920"/>
          </a:xfrm>
          <a:prstGeom prst="roundRect">
            <a:avLst>
              <a:gd name="adj" fmla="val 12727"/>
            </a:avLst>
          </a:prstGeom>
          <a:solidFill>
            <a:srgbClr val="0D1B2A"/>
          </a:solidFill>
          <a:ln/>
        </p:spPr>
      </p:sp>
      <p:sp>
        <p:nvSpPr>
          <p:cNvPr id="23" name="Text 20"/>
          <p:cNvSpPr/>
          <p:nvPr/>
        </p:nvSpPr>
        <p:spPr>
          <a:xfrm>
            <a:off x="7178040" y="1554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1M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103120" y="2240280"/>
            <a:ext cx="6583680" cy="2286000"/>
          </a:xfrm>
          <a:prstGeom prst="roundRect">
            <a:avLst>
              <a:gd name="adj" fmla="val 3200"/>
            </a:avLst>
          </a:prstGeom>
          <a:solidFill>
            <a:srgbClr val="0D1B2A"/>
          </a:solidFill>
          <a:ln/>
        </p:spPr>
      </p:sp>
      <p:sp>
        <p:nvSpPr>
          <p:cNvPr id="25" name="Shape 22"/>
          <p:cNvSpPr/>
          <p:nvPr/>
        </p:nvSpPr>
        <p:spPr>
          <a:xfrm>
            <a:off x="2240280" y="3794760"/>
            <a:ext cx="457200" cy="731520"/>
          </a:xfrm>
          <a:prstGeom prst="rect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862072" y="3502152"/>
            <a:ext cx="457200" cy="1024128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3483864" y="3209544"/>
            <a:ext cx="457200" cy="1316736"/>
          </a:xfrm>
          <a:prstGeom prst="rect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105656" y="3429000"/>
            <a:ext cx="457200" cy="1097280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727448" y="3063240"/>
            <a:ext cx="457200" cy="1463040"/>
          </a:xfrm>
          <a:prstGeom prst="rect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349240" y="3282696"/>
            <a:ext cx="457200" cy="1243584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5971032" y="3648456"/>
            <a:ext cx="457200" cy="877824"/>
          </a:xfrm>
          <a:prstGeom prst="rect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592824" y="3136392"/>
            <a:ext cx="457200" cy="1389888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7214616" y="3355848"/>
            <a:ext cx="457200" cy="1170432"/>
          </a:xfrm>
          <a:prstGeom prst="rect">
            <a:avLst/>
          </a:prstGeom>
          <a:solidFill>
            <a:srgbClr val="00B4D8">
              <a:alpha val="85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7836408" y="3575304"/>
            <a:ext cx="457200" cy="950976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320040" y="4892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645920" y="4892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KPIs  ·  Sales Evolution  ·  COVID Analysis  ·  Top/Flop Products  ·  RFM Segmentation  ·  Age Preferences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943600" cy="59436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F4A261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457200"/>
            <a:ext cx="201168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7373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Car Market Analysis  ·  Before &amp; After the Pandemic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0" y="3749040"/>
            <a:ext cx="4572000" cy="1051560"/>
          </a:xfrm>
          <a:prstGeom prst="roundRect">
            <a:avLst>
              <a:gd name="adj" fmla="val 12174"/>
            </a:avLst>
          </a:prstGeom>
          <a:solidFill>
            <a:srgbClr val="1B2A3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68880" y="3822192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Gheraibia Chihab Eddine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chihabghraibia2023@gmail.com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Car Market Analysis – Before &amp; After the Pandemic</dc:title>
  <dc:subject>PptxGenJS Presentation</dc:subject>
  <dc:creator>Gheraibia Chihab Eddine</dc:creator>
  <cp:lastModifiedBy>Gheraibia Chihab Eddine</cp:lastModifiedBy>
  <cp:revision>1</cp:revision>
  <dcterms:created xsi:type="dcterms:W3CDTF">2026-06-12T18:22:13Z</dcterms:created>
  <dcterms:modified xsi:type="dcterms:W3CDTF">2026-06-12T18:22:13Z</dcterms:modified>
</cp:coreProperties>
</file>